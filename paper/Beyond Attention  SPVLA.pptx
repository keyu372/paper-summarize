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8" r:id="rId4"/>
    <p:sldId id="25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6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69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70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946275" y="1637665"/>
            <a:ext cx="8846185" cy="755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eyond Attention Magnitude: Leveraging Inter-layer Rank Consistency for Efficient Vision-Language-Action Models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94965" y="3818890"/>
            <a:ext cx="6111875" cy="1020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挑战高注意力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token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更重要的默认假设，用层间秩一致性 (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Kendall τ)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动态判断何时该信任注意力，实现 78%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token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削减的同时性能反升 6%。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5285" y="145415"/>
            <a:ext cx="4312920" cy="65678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076325" y="1864360"/>
            <a:ext cx="4796155" cy="2822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 latinLnBrk="1"/>
            <a:r>
              <a:rPr lang="en-US" altLang="zh-CN"/>
              <a:t>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传统方法认为只要注意力分数高，对任务的贡献越大。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实验中发现性能反转，在抽屉任务中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Bottom-45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策略的成功率达到77.31%，不仅明显优于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Top-45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策略，还比全标记基线高出4.61个百分点。这表明在某些操作任务中，排名最高的标记可能成为误导模型策略的虚假信号或噪声，有效去除这些标记便相当于一种去噪机制。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MoveNear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任务中，传统假设成立。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82625" y="840105"/>
            <a:ext cx="6096635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确定一个可靠的评估指标，用以区分高注意力标记对策略性能是有益的（类型1）还是有害的（类型2）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0" y="205740"/>
            <a:ext cx="3733165" cy="5904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235" y="1965325"/>
            <a:ext cx="2940050" cy="61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871220" y="3116580"/>
            <a:ext cx="5854700" cy="23945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计算的是两个排序序列之间的一致性，属于肯德尔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τ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τ-b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变体，专门处理排名中出现并列的情况。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计算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当前帧的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τ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（跨层 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token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排名是否稳定）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  τ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高（层间排序高度一致）反而是不可靠的标志，意味着模型可能锁死在某些噪声或背景特征上；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  τ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低（层间排序波动大）反而是健康的，代表模型能灵活调整关注点。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因此，剪枝策略需要根据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τ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动态决定该相信 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top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注意力 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token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多少。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225425"/>
            <a:ext cx="7384415" cy="61118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81610" y="3845560"/>
            <a:ext cx="4130040" cy="25533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局限：</a:t>
            </a:r>
            <a:endParaRPr lang="zh-CN" altLang="en-US" sz="16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离线校准</a:t>
            </a:r>
            <a:endParaRPr lang="zh-CN" altLang="en-US" sz="16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        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从目标场景中随机抽取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M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帧（例如 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100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帧），对每一帧计算其平均层间肯德尔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τ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，得到这些 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τ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的分布。记录该分布的中位数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τ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_med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，后续用作判断“当前一致性高低”的基准。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不能理论证明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τ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与 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token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重要性的因果关系（目前是启发式相关）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5905" y="621030"/>
            <a:ext cx="3501390" cy="38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完整的</a:t>
            </a:r>
            <a:r>
              <a:rPr lang="zh-CN" altLang="en-US"/>
              <a:t>工作流程：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1610" y="1267460"/>
            <a:ext cx="4231005" cy="238252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采用基于相似度的触发机制而非固定间隔更新（时间冗余）：将时间序列的第一帧设为锚点，并计算其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τ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以确定策略，根据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τ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得到一个权重。</a:t>
            </a:r>
            <a:endParaRPr lang="zh-CN" altLang="en-US"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SOFT: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τ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用于确定依赖注意力剪枝和随机剪枝的比例，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τ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小，权重小，利用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Top-k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保留的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token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少，随机选取多。</a:t>
            </a:r>
            <a:b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</a:b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HARD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：二元选择方法，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τ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小，全用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Top-k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，</a:t>
            </a:r>
            <a:endParaRPr lang="zh-CN" altLang="en-US"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τ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高，全用随机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，</a:t>
            </a:r>
            <a:endParaRPr lang="zh-CN" altLang="en-US"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900" y="889635"/>
            <a:ext cx="8274050" cy="4483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094230" y="1291590"/>
            <a:ext cx="8502015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SP-VLA: A  JOINT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MODEL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SCHEDULING AND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TOKEN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PRUNING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APPROACH FOR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VLA  MODEL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ACCELERATION</a:t>
            </a:r>
            <a:endParaRPr lang="en-US" altLang="zh-CN" sz="2000" b="1">
              <a:solidFill>
                <a:srgbClr val="000000"/>
              </a:solidFill>
              <a:latin typeface="Times New Roman" panose="02020603050405020304" charset="0"/>
              <a:ea typeface="NimbusRomNo9L-Regu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48420" y="2176145"/>
            <a:ext cx="1065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ICLR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157095" y="3286125"/>
            <a:ext cx="8152765" cy="16300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时间冗余：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VLA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动作分为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深思熟虑型和直觉型，前者归入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VLA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模型，后者归入轻量级生成器，通过协同模型 调度实现频率自适应执行。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空间冗余：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空间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-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语义双感知标记剪枝方法，将标记划分为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空间型和语义型，并根据其双感知重要性进行剪枝以加速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VLA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推理。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15" y="817880"/>
            <a:ext cx="3256915" cy="23171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11750" y="1406525"/>
            <a:ext cx="589788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对于转向和抓取等速度缓慢的精确操作属于深思熟虑的动作，采用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VLA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模型。而在任务阶段间的高速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运转过程属于直观的动作，采用轻量级动作生成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器。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40" y="3283585"/>
            <a:ext cx="3514090" cy="2994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1485" y="305435"/>
            <a:ext cx="2404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模型调度</a:t>
            </a:r>
            <a:r>
              <a:rPr lang="zh-CN" altLang="en-US" sz="2000"/>
              <a:t>原理：</a:t>
            </a:r>
            <a:endParaRPr lang="zh-CN" altLang="en-US" sz="2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390" y="3494405"/>
            <a:ext cx="4959350" cy="8636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84725" y="2981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轻量模型触发</a:t>
            </a:r>
            <a:r>
              <a:rPr lang="zh-CN" altLang="en-US"/>
              <a:t>条件：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660390" y="4502785"/>
            <a:ext cx="5167630" cy="60452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表示末端执行器在时间步</a:t>
            </a:r>
            <a:r>
              <a:rPr lang="en-US" altLang="zh-CN" sz="1600" i="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t-1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的平移速度分量，当所有速度分量均满足条件，或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NG/NA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＞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τ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时用轻量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模型。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190" y="4530725"/>
            <a:ext cx="457200" cy="1968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111750" y="5313680"/>
            <a:ext cx="589788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NG/NA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＞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τ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VLA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生成的动作在近期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所有动作中的占比，当这个比例高于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τ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时，说明系统近期由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VLA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主导，任务方向准确，此时启用轻量级模型，可以在保证大方向正确的前提下，实现提速。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83565" y="510540"/>
            <a:ext cx="7179310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轻量动作生成器（</a:t>
            </a:r>
            <a:r>
              <a:rPr lang="zh-CN" altLang="en-US"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基于岭回归和动作缓冲区的轻量级生成器）：</a:t>
            </a:r>
            <a:endParaRPr lang="zh-CN" altLang="en-US"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01165" y="1132840"/>
            <a:ext cx="879030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chemeClr val="tx1"/>
                </a:solidFill>
                <a:latin typeface="quote-cjk-patch"/>
                <a:ea typeface="quote-cjk-patch"/>
              </a:rPr>
              <a:t>     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机械臂的复杂轨迹虽然很难整体预测，但在极短的片段（直观动作）内，其运动可以近似看作线性的（比如短时间内匀速运动）</a:t>
            </a:r>
            <a:endParaRPr lang="zh-CN" altLang="en-US" sz="16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65985" y="1655445"/>
            <a:ext cx="824039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用最近的历史动作数据（缓冲区）拟合一个函数，来估算当前时刻执行的动作。</a:t>
            </a:r>
            <a:endParaRPr lang="zh-CN" altLang="en-US" sz="16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3705" y="2172970"/>
            <a:ext cx="3665220" cy="3606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17420" y="281876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为生成每个新动作，模型需从头重新拟合，并采用以下损失函数：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020" y="3272790"/>
            <a:ext cx="2760980" cy="4673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615" y="4274820"/>
            <a:ext cx="2057400" cy="4635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30120" y="38309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该方程的解析解如下：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t="20805"/>
          <a:stretch>
            <a:fillRect/>
          </a:stretch>
        </p:blipFill>
        <p:spPr>
          <a:xfrm>
            <a:off x="3602990" y="5266055"/>
            <a:ext cx="2406650" cy="4375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30120" y="4822190"/>
            <a:ext cx="7247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获得当前动作片段的最有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后，按以下公式计算当前时间步操作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209665" y="3368675"/>
            <a:ext cx="49803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（第一部分是拟合误差，第二部分是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正则化的惩罚项，保证预测动作的平滑）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29815" y="5915660"/>
            <a:ext cx="6421755" cy="7683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由于末端执行器的状态采用二元变量表示，而岭回归只负责预测连续数值，所以未采用上述拟合策略，而是直接复用前一时间步</a:t>
            </a:r>
            <a:r>
              <a:rPr lang="en-US" altLang="zh-CN" sz="1400" i="1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</a:rPr>
              <a:t>t-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中的数值，只有当调用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VLA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程序时才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执行夹爪变化。</a:t>
            </a:r>
            <a:endParaRPr lang="zh-CN" altLang="en-US" sz="140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58165" y="325120"/>
            <a:ext cx="340296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</a:t>
            </a:r>
            <a:r>
              <a:rPr lang="en-US" altLang="zh-CN"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语义双重感知词元修剪：</a:t>
            </a:r>
            <a:endParaRPr lang="zh-CN" altLang="en-US"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6710" y="2117090"/>
            <a:ext cx="6304915" cy="673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38755" y="1533525"/>
            <a:ext cx="7146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通过以下公式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得到每一个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Token（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作为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Key），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它被序列中所有其他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Token（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作为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Query）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平均关注的强度。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71775" y="2837815"/>
            <a:ext cx="59613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AccuAttn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筛选累积注意力得分超过阈值的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token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87450" y="3429000"/>
            <a:ext cx="243205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空间感知标记重要性：</a:t>
            </a:r>
            <a:endParaRPr lang="zh-CN" altLang="en-US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6335" y="1022350"/>
            <a:ext cx="41008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基于注意力的语义感知重要性：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58110" y="3893820"/>
            <a:ext cx="730821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Canny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边缘检测器提取具有空间信息性的标记，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Xs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= Canny(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X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)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表示仅保留从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X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中提取的轮廓信息的边缘图像，通过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(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Xs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)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获得基于边缘标记的有序序列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Tsp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21025" y="6006465"/>
            <a:ext cx="687260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保证剪枝后保留的 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Token 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在序列中的物理顺序和原始输入一致。</a:t>
            </a:r>
            <a:endParaRPr lang="zh-CN" altLang="en-US" sz="16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1025" y="4798695"/>
            <a:ext cx="556387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最终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保留的标记集是通过计算两者的顺序保持并集得到的：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615" y="5442585"/>
            <a:ext cx="2867025" cy="2743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930910" y="283210"/>
            <a:ext cx="157099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动态修剪速率：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485" y="2498090"/>
            <a:ext cx="3759200" cy="8445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783580" y="2677795"/>
            <a:ext cx="5080000" cy="66484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Mona Sans VF"/>
                <a:ea typeface="Mona Sans VF"/>
              </a:rPr>
              <a:t>在</a:t>
            </a:r>
            <a:r>
              <a:rPr lang="zh-CN" altLang="en-US" sz="1600" b="0" i="0">
                <a:solidFill>
                  <a:schemeClr val="tx1"/>
                </a:solidFill>
                <a:latin typeface="Mona Sans VF"/>
                <a:ea typeface="Mona Sans VF"/>
              </a:rPr>
              <a:t>速度低时</a:t>
            </a:r>
            <a:r>
              <a:rPr lang="zh-CN" altLang="en-US" sz="1600">
                <a:latin typeface="Mona Sans VF"/>
                <a:ea typeface="Mona Sans VF"/>
                <a:sym typeface="+mn-ea"/>
              </a:rPr>
              <a:t>保留更多标记以确保准确性</a:t>
            </a:r>
            <a:endParaRPr lang="zh-CN" altLang="en-US" sz="1600">
              <a:latin typeface="Mona Sans VF"/>
              <a:ea typeface="Mona Sans VF"/>
              <a:sym typeface="+mn-ea"/>
            </a:endParaRPr>
          </a:p>
          <a:p>
            <a:pPr marL="0" indent="0"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>
                <a:latin typeface="Mona Sans VF"/>
                <a:ea typeface="Mona Sans VF"/>
                <a:sym typeface="+mn-ea"/>
              </a:rPr>
              <a:t>在速度高</a:t>
            </a:r>
            <a:r>
              <a:rPr lang="zh-CN" altLang="en-US" sz="1600">
                <a:latin typeface="Mona Sans VF"/>
                <a:ea typeface="Mona Sans VF"/>
                <a:sym typeface="+mn-ea"/>
              </a:rPr>
              <a:t>时进行更激进的修剪以提高速度</a:t>
            </a:r>
            <a:endParaRPr lang="zh-CN" altLang="en-US" sz="1600" b="0" i="0">
              <a:solidFill>
                <a:schemeClr val="tx1"/>
              </a:solidFill>
              <a:latin typeface="Mona Sans VF"/>
              <a:ea typeface="Mona Sans VF"/>
            </a:endParaRPr>
          </a:p>
          <a:p>
            <a:pPr marL="0" indent="0"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0" i="0">
              <a:solidFill>
                <a:schemeClr val="tx1"/>
              </a:solidFill>
              <a:latin typeface="Mona Sans VF"/>
              <a:ea typeface="Mona Sans VF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3875" y="1233805"/>
            <a:ext cx="860488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在低速条件下禁用令牌剪枝功能，以避免干扰精确的操作，基于较高运动速度通常对应更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直观的操这一观察结果，们将剪枝比率设定为与当前速度呈正相关。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4244340"/>
            <a:ext cx="7734300" cy="1320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33667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05081"/>
  <p:tag name="KSO_WM_SLIDE_TYPE" val="text"/>
  <p:tag name="KSO_WM_SLIDE_SUBTYPE" val="picTxt"/>
  <p:tag name="KSO_WM_SLIDE_SIZE" val="265.55*360.15"/>
  <p:tag name="KSO_WM_SLIDE_POSITION" val="48.05*130.2"/>
  <p:tag name="KSO_WM_SLIDE_LAYOUT" val="a_β_l"/>
  <p:tag name="KSO_WM_SLIDE_LAYOUT_CNT" val="1_1_1"/>
  <p:tag name="KSO_WM_SPECIAL_SOURCE" val="bdnull"/>
  <p:tag name="KSO_WM_DIAGRAM_GROUP_CODE" val="l1-1"/>
  <p:tag name="KSO_WM_SLIDE_DIAGTYPE" val="l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ID" val="diagram20233185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13.45*259.05"/>
  <p:tag name="KSO_WM_SLIDE_POSITION" val="69.35*177.55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2103</Words>
  <Application>WPS 演示</Application>
  <PresentationFormat>宽屏</PresentationFormat>
  <Paragraphs>89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Times New Roman</vt:lpstr>
      <vt:lpstr>Calibri</vt:lpstr>
      <vt:lpstr>Times New Roman</vt:lpstr>
      <vt:lpstr>NimbusRomNo9L-Regu</vt:lpstr>
      <vt:lpstr>Segoe Print</vt:lpstr>
      <vt:lpstr>Arial</vt:lpstr>
      <vt:lpstr>黑体</vt:lpstr>
      <vt:lpstr>quote-cjk-patch</vt:lpstr>
      <vt:lpstr>Mona Sans VF</vt:lpstr>
      <vt:lpstr>微软雅黑</vt:lpstr>
      <vt:lpstr>Arial Unicode MS</vt:lpstr>
      <vt:lpstr>Calibri</vt:lpstr>
      <vt:lpstr>Mona Sans VF</vt:lpstr>
      <vt:lpstr>NimbusRomNo9L-Regu</vt:lpstr>
      <vt:lpstr>quote-cjk-patch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T-K-Y！</cp:lastModifiedBy>
  <cp:revision>164</cp:revision>
  <dcterms:created xsi:type="dcterms:W3CDTF">2019-06-19T02:08:00Z</dcterms:created>
  <dcterms:modified xsi:type="dcterms:W3CDTF">2026-06-10T02:12:41Z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0EA13EE6173840E8B084B7246E742395_11</vt:lpwstr>
  </property>
</Properties>
</file>